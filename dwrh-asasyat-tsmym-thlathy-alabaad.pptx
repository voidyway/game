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Montserrat Black"/>
      <p:regular r:id="rId17"/>
    </p:embeddedFont>
    <p:embeddedFont>
      <p:font typeface="Montserrat Black"/>
      <p:regular r:id="rId18"/>
    </p:embeddedFont>
    <p:embeddedFont>
      <p:font typeface="Inconsolata"/>
      <p:regular r:id="rId19"/>
    </p:embeddedFont>
    <p:embeddedFont>
      <p:font typeface="Inconsolata"/>
      <p:regular r:id="rId20"/>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2-1.png"/><Relationship Id="rId3"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3-1.png"/><Relationship Id="rId3"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4-1.png"/><Relationship Id="rId3"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5-1.png"/><Relationship Id="rId3"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6-1.png"/><Relationship Id="rId3"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7-1.png"/><Relationship Id="rId3"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8-1.png"/><Relationship Id="rId3"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09-1.png"/><Relationship Id="rId3"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0-1.png"/><Relationship Id="rId3"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hyperlink" Target="https://gamma.app/?utm_source=made-with-gamma" TargetMode="External"/><Relationship Id="rId1" Type="http://schemas.openxmlformats.org/officeDocument/2006/relationships/image" Target="../media/image-1011-1.png"/><Relationship Id="rId3"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F8ECE4"/>
          </a:solidFill>
          <a:ln/>
        </p:spPr>
      </p:sp>
      <p:sp>
        <p:nvSpPr>
          <p:cNvPr id="3" name="Shape 1"/>
          <p:cNvSpPr/>
          <p:nvPr/>
        </p:nvSpPr>
        <p:spPr>
          <a:xfrm>
            <a:off x="0" y="0"/>
            <a:ext cx="14630400" cy="8229600"/>
          </a:xfrm>
          <a:prstGeom prst="rect">
            <a:avLst/>
          </a:prstGeom>
          <a:solidFill>
            <a:srgbClr val="F8ECE4"/>
          </a:solidFill>
          <a:ln/>
        </p:spPr>
      </p:sp>
      <p:pic>
        <p:nvPicPr>
          <p:cNvPr id="4" name="Image 0" descr="preencoded.png">
            <a:hlinkClick r:id="rId2" tooltip=""/>
          </p:cNvPr>
          <p:cNvPicPr>
            <a:picLocks noChangeAspect="1"/>
          </p:cNvPicPr>
          <p:nvPr/>
        </p:nvPicPr>
        <p:blipFill>
          <a:blip r:embed="rId1"/>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svg"/><Relationship Id="rId4" Type="http://schemas.openxmlformats.org/officeDocument/2006/relationships/image" Target="../media/image-3-4.png"/><Relationship Id="rId5" Type="http://schemas.openxmlformats.org/officeDocument/2006/relationships/image" Target="../media/image-3-5.svg"/><Relationship Id="rId6" Type="http://schemas.openxmlformats.org/officeDocument/2006/relationships/image" Target="../media/image-3-6.png"/><Relationship Id="rId7" Type="http://schemas.openxmlformats.org/officeDocument/2006/relationships/image" Target="../media/image-3-7.svg"/><Relationship Id="rId8" Type="http://schemas.openxmlformats.org/officeDocument/2006/relationships/slideLayout" Target="../slideLayouts/slideLayout4.xml"/><Relationship Id="rId9"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8.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9.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0.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sv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sv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sv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svg"/><Relationship Id="rId13" Type="http://schemas.openxmlformats.org/officeDocument/2006/relationships/image" Target="../media/image-10-13.png"/><Relationship Id="rId14" Type="http://schemas.openxmlformats.org/officeDocument/2006/relationships/image" Target="../media/image-10-14.png"/><Relationship Id="rId15" Type="http://schemas.openxmlformats.org/officeDocument/2006/relationships/image" Target="../media/image-10-15.svg"/><Relationship Id="rId16" Type="http://schemas.openxmlformats.org/officeDocument/2006/relationships/slideLayout" Target="../slideLayouts/slideLayout11.xml"/><Relationship Id="rId17"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1563529" y="3497104"/>
            <a:ext cx="6786682"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دورة أساسيات تصميم ثلاثي الأبعاد</a:t>
            </a:r>
            <a:endParaRPr lang="en-US" sz="3900" dirty="0"/>
          </a:p>
        </p:txBody>
      </p:sp>
      <p:sp>
        <p:nvSpPr>
          <p:cNvPr id="4" name="Text 1"/>
          <p:cNvSpPr/>
          <p:nvPr/>
        </p:nvSpPr>
        <p:spPr>
          <a:xfrm>
            <a:off x="793790" y="4414838"/>
            <a:ext cx="7556421"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رحلة إبداعية في عالم التصميم ثلاثي الأبعاد باستخدام أقوى الأدوات المجانية</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05631" y="2144078"/>
            <a:ext cx="5930979"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ما هو برنامج بلندر Blender؟</a:t>
            </a:r>
            <a:endParaRPr lang="en-US" sz="3900" dirty="0"/>
          </a:p>
        </p:txBody>
      </p:sp>
      <p:sp>
        <p:nvSpPr>
          <p:cNvPr id="3" name="Text 1"/>
          <p:cNvSpPr/>
          <p:nvPr/>
        </p:nvSpPr>
        <p:spPr>
          <a:xfrm>
            <a:off x="6204585" y="3240405"/>
            <a:ext cx="7632025" cy="127015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بلندر هو برنامج مجاني ومفتوح المصدر متكامل لتصميم الرسوم ثلاثية الأبعاد، ويُعتبر من أقوى الأدوات المتاحة للمبدعين حول العالم. يستخدمه محترفون في صناعة الأفلام السينمائية، تطوير الألعاب الإلكترونية، إنتاج الإعلانات التجارية، والتصميمات الهندسية المعمارية.</a:t>
            </a:r>
            <a:endParaRPr lang="en-US" sz="1550" dirty="0"/>
          </a:p>
        </p:txBody>
      </p:sp>
      <p:sp>
        <p:nvSpPr>
          <p:cNvPr id="4" name="Text 2"/>
          <p:cNvSpPr/>
          <p:nvPr/>
        </p:nvSpPr>
        <p:spPr>
          <a:xfrm>
            <a:off x="6204585" y="4689158"/>
            <a:ext cx="7632025" cy="95261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يتميز بلندر بكونه منافساً قوياً للبرامج المدفوعة الشهيرة مثل Maya و3ds Max، حيث يوفر مجموعة شاملة من الأدوات الاحترافية دون أي تكلفة. يدعمه مجتمع عالمي نشط من المطورين والفنانين الذين يساهمون في تطويره المستمر وإضافة ميزات جديدة بشكل دوري.</a:t>
            </a:r>
            <a:endParaRPr lang="en-US" sz="1550" dirty="0"/>
          </a:p>
        </p:txBody>
      </p:sp>
      <p:pic>
        <p:nvPicPr>
          <p:cNvPr id="5" name="Image 0" descr="preencoded.png">    </p:cNvPr>
          <p:cNvPicPr>
            <a:picLocks noChangeAspect="1"/>
          </p:cNvPicPr>
          <p:nvPr/>
        </p:nvPicPr>
        <p:blipFill>
          <a:blip r:embed="rId1"/>
          <a:stretch>
            <a:fillRect/>
          </a:stretch>
        </p:blipFill>
        <p:spPr>
          <a:xfrm>
            <a:off x="786289" y="3285053"/>
            <a:ext cx="4926568" cy="257710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8874800" y="969288"/>
            <a:ext cx="4961811"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التعرف على واجهة بلندر</a:t>
            </a:r>
            <a:endParaRPr lang="en-US" sz="3900" dirty="0"/>
          </a:p>
        </p:txBody>
      </p:sp>
      <p:sp>
        <p:nvSpPr>
          <p:cNvPr id="4" name="Shape 1"/>
          <p:cNvSpPr/>
          <p:nvPr/>
        </p:nvSpPr>
        <p:spPr>
          <a:xfrm>
            <a:off x="10157579" y="1887022"/>
            <a:ext cx="3679031" cy="2905006"/>
          </a:xfrm>
          <a:prstGeom prst="roundRect">
            <a:avLst>
              <a:gd name="adj" fmla="val 315"/>
            </a:avLst>
          </a:prstGeom>
          <a:solidFill>
            <a:srgbClr val="F8ECE4"/>
          </a:solidFill>
          <a:ln w="7620">
            <a:solidFill>
              <a:srgbClr val="151617"/>
            </a:solidFill>
            <a:prstDash val="solid"/>
          </a:ln>
          <a:effectLst>
            <a:outerShdw sx="100000" sy="100000" kx="0" ky="0" algn="bl" rotWithShape="0" blurRad="0" dist="17780" dir="2700000">
              <a:srgbClr val="151617">
                <a:alpha val="100000"/>
              </a:srgbClr>
            </a:outerShdw>
          </a:effectLst>
        </p:spPr>
      </p:sp>
      <p:sp>
        <p:nvSpPr>
          <p:cNvPr id="5" name="Shape 2"/>
          <p:cNvSpPr/>
          <p:nvPr/>
        </p:nvSpPr>
        <p:spPr>
          <a:xfrm>
            <a:off x="13035320" y="2093000"/>
            <a:ext cx="595313" cy="595313"/>
          </a:xfrm>
          <a:prstGeom prst="roundRect">
            <a:avLst>
              <a:gd name="adj" fmla="val 15358451"/>
            </a:avLst>
          </a:prstGeom>
          <a:solidFill>
            <a:srgbClr val="151617"/>
          </a:solidFill>
          <a:ln/>
        </p:spPr>
      </p:sp>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13199031" y="2256592"/>
            <a:ext cx="267891" cy="267891"/>
          </a:xfrm>
          <a:prstGeom prst="rect">
            <a:avLst/>
          </a:prstGeom>
        </p:spPr>
      </p:pic>
      <p:sp>
        <p:nvSpPr>
          <p:cNvPr id="7" name="Text 3"/>
          <p:cNvSpPr/>
          <p:nvPr/>
        </p:nvSpPr>
        <p:spPr>
          <a:xfrm>
            <a:off x="11149727" y="288667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واجهة قابلة للتخصيص</a:t>
            </a:r>
            <a:endParaRPr lang="en-US" sz="1950" dirty="0"/>
          </a:p>
        </p:txBody>
      </p:sp>
      <p:sp>
        <p:nvSpPr>
          <p:cNvPr id="8" name="Text 4"/>
          <p:cNvSpPr/>
          <p:nvPr/>
        </p:nvSpPr>
        <p:spPr>
          <a:xfrm>
            <a:off x="10363557" y="3315891"/>
            <a:ext cx="3267075" cy="127015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واجهة مستخدم مرنة تماماً يمكن تخصيصها لتناسب أسلوب عملك الخاص، مع إمكانية تغيير موضع كل نافذة وأداة</a:t>
            </a:r>
            <a:endParaRPr lang="en-US" sz="1550" dirty="0"/>
          </a:p>
        </p:txBody>
      </p:sp>
      <p:sp>
        <p:nvSpPr>
          <p:cNvPr id="9" name="Shape 5"/>
          <p:cNvSpPr/>
          <p:nvPr/>
        </p:nvSpPr>
        <p:spPr>
          <a:xfrm>
            <a:off x="6280190" y="1887022"/>
            <a:ext cx="3679031" cy="2905006"/>
          </a:xfrm>
          <a:prstGeom prst="roundRect">
            <a:avLst>
              <a:gd name="adj" fmla="val 315"/>
            </a:avLst>
          </a:prstGeom>
          <a:solidFill>
            <a:srgbClr val="F8ECE4"/>
          </a:solidFill>
          <a:ln w="7620">
            <a:solidFill>
              <a:srgbClr val="151617"/>
            </a:solidFill>
            <a:prstDash val="solid"/>
          </a:ln>
          <a:effectLst>
            <a:outerShdw sx="100000" sy="100000" kx="0" ky="0" algn="bl" rotWithShape="0" blurRad="0" dist="17780" dir="2700000">
              <a:srgbClr val="151617">
                <a:alpha val="100000"/>
              </a:srgbClr>
            </a:outerShdw>
          </a:effectLst>
        </p:spPr>
      </p:sp>
      <p:sp>
        <p:nvSpPr>
          <p:cNvPr id="10" name="Shape 6"/>
          <p:cNvSpPr/>
          <p:nvPr/>
        </p:nvSpPr>
        <p:spPr>
          <a:xfrm>
            <a:off x="9157930" y="2093000"/>
            <a:ext cx="595313" cy="595313"/>
          </a:xfrm>
          <a:prstGeom prst="roundRect">
            <a:avLst>
              <a:gd name="adj" fmla="val 15358451"/>
            </a:avLst>
          </a:prstGeom>
          <a:solidFill>
            <a:srgbClr val="151617"/>
          </a:solidFill>
          <a:ln/>
        </p:spPr>
      </p:sp>
      <p:pic>
        <p:nvPicPr>
          <p:cNvPr id="11" name="Image 2" descr="preencoded.png">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321641" y="2256592"/>
            <a:ext cx="267891" cy="267891"/>
          </a:xfrm>
          <a:prstGeom prst="rect">
            <a:avLst/>
          </a:prstGeom>
        </p:spPr>
      </p:pic>
      <p:sp>
        <p:nvSpPr>
          <p:cNvPr id="12" name="Text 7"/>
          <p:cNvSpPr/>
          <p:nvPr/>
        </p:nvSpPr>
        <p:spPr>
          <a:xfrm>
            <a:off x="7272338" y="288667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أدوات التحكم الأساسية</a:t>
            </a:r>
            <a:endParaRPr lang="en-US" sz="1950" dirty="0"/>
          </a:p>
        </p:txBody>
      </p:sp>
      <p:sp>
        <p:nvSpPr>
          <p:cNvPr id="13" name="Text 8"/>
          <p:cNvSpPr/>
          <p:nvPr/>
        </p:nvSpPr>
        <p:spPr>
          <a:xfrm>
            <a:off x="6486168" y="3315891"/>
            <a:ext cx="3267075" cy="127015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تعلم استخدام أدوات التحكم الرئيسية بسهولة: التحريك، التدوير، التكبير، والتصغير للتنقل في المشهد ثلاثي الأبعاد</a:t>
            </a:r>
            <a:endParaRPr lang="en-US" sz="1550" dirty="0"/>
          </a:p>
        </p:txBody>
      </p:sp>
      <p:sp>
        <p:nvSpPr>
          <p:cNvPr id="14" name="Shape 9"/>
          <p:cNvSpPr/>
          <p:nvPr/>
        </p:nvSpPr>
        <p:spPr>
          <a:xfrm>
            <a:off x="6280190" y="4990386"/>
            <a:ext cx="7556421" cy="2269927"/>
          </a:xfrm>
          <a:prstGeom prst="roundRect">
            <a:avLst>
              <a:gd name="adj" fmla="val 403"/>
            </a:avLst>
          </a:prstGeom>
          <a:solidFill>
            <a:srgbClr val="F8ECE4"/>
          </a:solidFill>
          <a:ln w="7620">
            <a:solidFill>
              <a:srgbClr val="151617"/>
            </a:solidFill>
            <a:prstDash val="solid"/>
          </a:ln>
          <a:effectLst>
            <a:outerShdw sx="100000" sy="100000" kx="0" ky="0" algn="bl" rotWithShape="0" blurRad="0" dist="17780" dir="2700000">
              <a:srgbClr val="151617">
                <a:alpha val="100000"/>
              </a:srgbClr>
            </a:outerShdw>
          </a:effectLst>
        </p:spPr>
      </p:sp>
      <p:sp>
        <p:nvSpPr>
          <p:cNvPr id="15" name="Shape 10"/>
          <p:cNvSpPr/>
          <p:nvPr/>
        </p:nvSpPr>
        <p:spPr>
          <a:xfrm>
            <a:off x="13035320" y="5196364"/>
            <a:ext cx="595313" cy="595313"/>
          </a:xfrm>
          <a:prstGeom prst="roundRect">
            <a:avLst>
              <a:gd name="adj" fmla="val 15358451"/>
            </a:avLst>
          </a:prstGeom>
          <a:solidFill>
            <a:srgbClr val="151617"/>
          </a:solidFill>
          <a:ln/>
        </p:spPr>
      </p:sp>
      <p:pic>
        <p:nvPicPr>
          <p:cNvPr id="16" name="Image 3" descr="preencoded.png">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3199031" y="5359956"/>
            <a:ext cx="267891" cy="267891"/>
          </a:xfrm>
          <a:prstGeom prst="rect">
            <a:avLst/>
          </a:prstGeom>
        </p:spPr>
      </p:pic>
      <p:sp>
        <p:nvSpPr>
          <p:cNvPr id="17" name="Text 11"/>
          <p:cNvSpPr/>
          <p:nvPr/>
        </p:nvSpPr>
        <p:spPr>
          <a:xfrm>
            <a:off x="11149727" y="5990034"/>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استعادة الإعدادات</a:t>
            </a:r>
            <a:endParaRPr lang="en-US" sz="1950" dirty="0"/>
          </a:p>
        </p:txBody>
      </p:sp>
      <p:sp>
        <p:nvSpPr>
          <p:cNvPr id="18" name="Text 12"/>
          <p:cNvSpPr/>
          <p:nvPr/>
        </p:nvSpPr>
        <p:spPr>
          <a:xfrm>
            <a:off x="6486168" y="6419255"/>
            <a:ext cx="7144464"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إمكانية الرجوع للإعدادات الافتراضية بسهولة في أي وقت، مما يمنحك حرية التجربة دون قلق</a:t>
            </a:r>
            <a:endParaRPr lang="en-US" sz="15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1145143"/>
            <a:ext cx="7556421" cy="1240155"/>
          </a:xfrm>
          <a:prstGeom prst="rect">
            <a:avLst/>
          </a:prstGeom>
          <a:noFill/>
          <a:ln/>
        </p:spPr>
        <p:txBody>
          <a:bodyPr wrap="squar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النمذجة Modeling: بناء الأشكال ثلاثية الأبعاد</a:t>
            </a:r>
            <a:endParaRPr lang="en-US" sz="3900" dirty="0"/>
          </a:p>
        </p:txBody>
      </p:sp>
      <p:sp>
        <p:nvSpPr>
          <p:cNvPr id="4" name="Text 1"/>
          <p:cNvSpPr/>
          <p:nvPr/>
        </p:nvSpPr>
        <p:spPr>
          <a:xfrm>
            <a:off x="6280190" y="2682954"/>
            <a:ext cx="7556421"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النمذجة هي الخطوة الأولى في رحلة التصميم ثلاثي الأبعاد، حيث تتعلم كيفية بناء المجسمات والأشكال من الصفر باستخدام تقنيات متنوعة.</a:t>
            </a:r>
            <a:endParaRPr lang="en-US" sz="1550" dirty="0"/>
          </a:p>
        </p:txBody>
      </p:sp>
      <p:sp>
        <p:nvSpPr>
          <p:cNvPr id="5" name="Text 2"/>
          <p:cNvSpPr/>
          <p:nvPr/>
        </p:nvSpPr>
        <p:spPr>
          <a:xfrm>
            <a:off x="13638252" y="3541276"/>
            <a:ext cx="198358" cy="248007"/>
          </a:xfrm>
          <a:prstGeom prst="rect">
            <a:avLst/>
          </a:prstGeom>
          <a:noFill/>
          <a:ln/>
        </p:spPr>
        <p:txBody>
          <a:bodyPr wrap="none" lIns="0" tIns="0" rIns="0" bIns="0" rtlCol="0" anchor="t"/>
          <a:lstStyle/>
          <a:p>
            <a:pPr rtl="1" algn="l" indent="0" marL="0">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01</a:t>
            </a:r>
            <a:endParaRPr lang="en-US" sz="1550" dirty="0"/>
          </a:p>
        </p:txBody>
      </p:sp>
      <p:sp>
        <p:nvSpPr>
          <p:cNvPr id="6" name="Shape 3"/>
          <p:cNvSpPr/>
          <p:nvPr/>
        </p:nvSpPr>
        <p:spPr>
          <a:xfrm>
            <a:off x="10157579" y="3855601"/>
            <a:ext cx="3679031" cy="22860"/>
          </a:xfrm>
          <a:prstGeom prst="rect">
            <a:avLst/>
          </a:prstGeom>
          <a:solidFill>
            <a:srgbClr val="151617"/>
          </a:solidFill>
          <a:ln/>
        </p:spPr>
      </p:sp>
      <p:sp>
        <p:nvSpPr>
          <p:cNvPr id="7" name="Text 4"/>
          <p:cNvSpPr/>
          <p:nvPr/>
        </p:nvSpPr>
        <p:spPr>
          <a:xfrm>
            <a:off x="11355705" y="400050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الأشكال الأساسية</a:t>
            </a:r>
            <a:endParaRPr lang="en-US" sz="1950" dirty="0"/>
          </a:p>
        </p:txBody>
      </p:sp>
      <p:sp>
        <p:nvSpPr>
          <p:cNvPr id="8" name="Text 5"/>
          <p:cNvSpPr/>
          <p:nvPr/>
        </p:nvSpPr>
        <p:spPr>
          <a:xfrm>
            <a:off x="10157579" y="4429720"/>
            <a:ext cx="3679031" cy="95261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ابدأ بإنشاء الأشكال الهندسية البسيطة: المكعب، الكرة، الأسطوانة، والمخروط كأساس لمشاريعك</a:t>
            </a:r>
            <a:endParaRPr lang="en-US" sz="1550" dirty="0"/>
          </a:p>
        </p:txBody>
      </p:sp>
      <p:sp>
        <p:nvSpPr>
          <p:cNvPr id="9" name="Text 6"/>
          <p:cNvSpPr/>
          <p:nvPr/>
        </p:nvSpPr>
        <p:spPr>
          <a:xfrm>
            <a:off x="9760863" y="3541276"/>
            <a:ext cx="198358" cy="248007"/>
          </a:xfrm>
          <a:prstGeom prst="rect">
            <a:avLst/>
          </a:prstGeom>
          <a:noFill/>
          <a:ln/>
        </p:spPr>
        <p:txBody>
          <a:bodyPr wrap="none" lIns="0" tIns="0" rIns="0" bIns="0" rtlCol="0" anchor="t"/>
          <a:lstStyle/>
          <a:p>
            <a:pPr rtl="1" algn="l" indent="0" marL="0">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02</a:t>
            </a:r>
            <a:endParaRPr lang="en-US" sz="1550" dirty="0"/>
          </a:p>
        </p:txBody>
      </p:sp>
      <p:sp>
        <p:nvSpPr>
          <p:cNvPr id="10" name="Shape 7"/>
          <p:cNvSpPr/>
          <p:nvPr/>
        </p:nvSpPr>
        <p:spPr>
          <a:xfrm>
            <a:off x="6280190" y="3855601"/>
            <a:ext cx="3679031" cy="22860"/>
          </a:xfrm>
          <a:prstGeom prst="rect">
            <a:avLst/>
          </a:prstGeom>
          <a:solidFill>
            <a:srgbClr val="151617"/>
          </a:solidFill>
          <a:ln/>
        </p:spPr>
      </p:sp>
      <p:sp>
        <p:nvSpPr>
          <p:cNvPr id="11" name="Text 8"/>
          <p:cNvSpPr/>
          <p:nvPr/>
        </p:nvSpPr>
        <p:spPr>
          <a:xfrm>
            <a:off x="7478316" y="400050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أدوات التعديل المتقدمة</a:t>
            </a:r>
            <a:endParaRPr lang="en-US" sz="1950" dirty="0"/>
          </a:p>
        </p:txBody>
      </p:sp>
      <p:sp>
        <p:nvSpPr>
          <p:cNvPr id="12" name="Text 9"/>
          <p:cNvSpPr/>
          <p:nvPr/>
        </p:nvSpPr>
        <p:spPr>
          <a:xfrm>
            <a:off x="6280190" y="4429720"/>
            <a:ext cx="3679031"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استخدم أدوات التشكيل القوية لتحويل الأشكال البسيطة إلى نماذج معقدة واحترافية</a:t>
            </a:r>
            <a:endParaRPr lang="en-US" sz="1550" dirty="0"/>
          </a:p>
        </p:txBody>
      </p:sp>
      <p:sp>
        <p:nvSpPr>
          <p:cNvPr id="13" name="Text 10"/>
          <p:cNvSpPr/>
          <p:nvPr/>
        </p:nvSpPr>
        <p:spPr>
          <a:xfrm>
            <a:off x="13638252" y="5729526"/>
            <a:ext cx="198358" cy="248007"/>
          </a:xfrm>
          <a:prstGeom prst="rect">
            <a:avLst/>
          </a:prstGeom>
          <a:noFill/>
          <a:ln/>
        </p:spPr>
        <p:txBody>
          <a:bodyPr wrap="none" lIns="0" tIns="0" rIns="0" bIns="0" rtlCol="0" anchor="t"/>
          <a:lstStyle/>
          <a:p>
            <a:pPr rtl="1" algn="l" indent="0" marL="0">
              <a:lnSpc>
                <a:spcPts val="2500"/>
              </a:lnSpc>
              <a:buNone/>
            </a:pPr>
            <a:r>
              <a:rPr lang="en-US" sz="1550" dirty="0">
                <a:solidFill>
                  <a:srgbClr val="151617"/>
                </a:solidFill>
                <a:latin typeface="Montserrat Light" pitchFamily="34" charset="0"/>
                <a:ea typeface="Montserrat Light" pitchFamily="34" charset="-122"/>
                <a:cs typeface="Montserrat Light" pitchFamily="34" charset="-120"/>
              </a:rPr>
              <a:t>03</a:t>
            </a:r>
            <a:endParaRPr lang="en-US" sz="1550" dirty="0"/>
          </a:p>
        </p:txBody>
      </p:sp>
      <p:sp>
        <p:nvSpPr>
          <p:cNvPr id="14" name="Shape 11"/>
          <p:cNvSpPr/>
          <p:nvPr/>
        </p:nvSpPr>
        <p:spPr>
          <a:xfrm>
            <a:off x="6280190" y="6043851"/>
            <a:ext cx="7556421" cy="22860"/>
          </a:xfrm>
          <a:prstGeom prst="rect">
            <a:avLst/>
          </a:prstGeom>
          <a:solidFill>
            <a:srgbClr val="151617"/>
          </a:solidFill>
          <a:ln/>
        </p:spPr>
      </p:sp>
      <p:sp>
        <p:nvSpPr>
          <p:cNvPr id="15" name="Text 12"/>
          <p:cNvSpPr/>
          <p:nvPr/>
        </p:nvSpPr>
        <p:spPr>
          <a:xfrm>
            <a:off x="11355705" y="618875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تنظيم المشهد</a:t>
            </a:r>
            <a:endParaRPr lang="en-US" sz="1950" dirty="0"/>
          </a:p>
        </p:txBody>
      </p:sp>
      <p:sp>
        <p:nvSpPr>
          <p:cNvPr id="16" name="Text 13"/>
          <p:cNvSpPr/>
          <p:nvPr/>
        </p:nvSpPr>
        <p:spPr>
          <a:xfrm>
            <a:off x="6280190" y="6617970"/>
            <a:ext cx="7556421"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تعلم كيفية ترتيب وتوزيع العناصر المختلفة في المشهد لإنشاء تركيبة متوازنة وجذابة</a:t>
            </a:r>
            <a:endParaRPr lang="en-US" sz="15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794063" y="514350"/>
            <a:ext cx="7088267" cy="584359"/>
          </a:xfrm>
          <a:prstGeom prst="rect">
            <a:avLst/>
          </a:prstGeom>
          <a:noFill/>
          <a:ln/>
        </p:spPr>
        <p:txBody>
          <a:bodyPr wrap="none" lIns="0" tIns="0" rIns="0" bIns="0" rtlCol="0" anchor="t"/>
          <a:lstStyle/>
          <a:p>
            <a:pPr rtl="1" algn="r" indent="0" marL="0">
              <a:lnSpc>
                <a:spcPts val="4600"/>
              </a:lnSpc>
              <a:buNone/>
            </a:pPr>
            <a:r>
              <a:rPr lang="en-US" sz="3650" b="1" dirty="0">
                <a:solidFill>
                  <a:srgbClr val="151617"/>
                </a:solidFill>
                <a:latin typeface="Montserrat Black" pitchFamily="34" charset="0"/>
                <a:ea typeface="Montserrat Black" pitchFamily="34" charset="-122"/>
                <a:cs typeface="Montserrat Black" pitchFamily="34" charset="-120"/>
              </a:rPr>
              <a:t>الخامات Texturing &amp; Materials</a:t>
            </a:r>
            <a:endParaRPr lang="en-US" sz="3650" dirty="0"/>
          </a:p>
        </p:txBody>
      </p:sp>
      <p:sp>
        <p:nvSpPr>
          <p:cNvPr id="3" name="Text 1"/>
          <p:cNvSpPr/>
          <p:nvPr/>
        </p:nvSpPr>
        <p:spPr>
          <a:xfrm>
            <a:off x="10941844" y="1566148"/>
            <a:ext cx="2940487" cy="350639"/>
          </a:xfrm>
          <a:prstGeom prst="rect">
            <a:avLst/>
          </a:prstGeom>
          <a:noFill/>
          <a:ln/>
        </p:spPr>
        <p:txBody>
          <a:bodyPr wrap="none" lIns="0" tIns="0" rIns="0" bIns="0" rtlCol="0" anchor="t"/>
          <a:lstStyle/>
          <a:p>
            <a:pPr rtl="1" algn="r" indent="0" marL="0">
              <a:lnSpc>
                <a:spcPts val="2750"/>
              </a:lnSpc>
              <a:buNone/>
            </a:pPr>
            <a:r>
              <a:rPr lang="en-US" sz="2200" b="1" dirty="0">
                <a:solidFill>
                  <a:srgbClr val="151617"/>
                </a:solidFill>
                <a:latin typeface="Montserrat Black" pitchFamily="34" charset="0"/>
                <a:ea typeface="Montserrat Black" pitchFamily="34" charset="-122"/>
                <a:cs typeface="Montserrat Black" pitchFamily="34" charset="-120"/>
              </a:rPr>
              <a:t>إضافة الواقعية للمجسمات</a:t>
            </a:r>
            <a:endParaRPr lang="en-US" sz="2200" dirty="0"/>
          </a:p>
        </p:txBody>
      </p:sp>
      <p:sp>
        <p:nvSpPr>
          <p:cNvPr id="4" name="Text 2"/>
          <p:cNvSpPr/>
          <p:nvPr/>
        </p:nvSpPr>
        <p:spPr>
          <a:xfrm>
            <a:off x="7543324" y="2103715"/>
            <a:ext cx="6339007" cy="897612"/>
          </a:xfrm>
          <a:prstGeom prst="rect">
            <a:avLst/>
          </a:prstGeom>
          <a:noFill/>
          <a:ln/>
        </p:spPr>
        <p:txBody>
          <a:bodyPr wrap="square" lIns="0" tIns="0" rIns="0" bIns="0" rtlCol="0" anchor="t"/>
          <a:lstStyle/>
          <a:p>
            <a:pPr rtl="1" algn="r" indent="0" marL="0">
              <a:lnSpc>
                <a:spcPts val="2350"/>
              </a:lnSpc>
              <a:buNone/>
            </a:pPr>
            <a:r>
              <a:rPr lang="en-US" sz="1450" dirty="0">
                <a:solidFill>
                  <a:srgbClr val="151617"/>
                </a:solidFill>
                <a:latin typeface="Inconsolata" pitchFamily="34" charset="0"/>
                <a:ea typeface="Inconsolata" pitchFamily="34" charset="-122"/>
                <a:cs typeface="Inconsolata" pitchFamily="34" charset="-120"/>
              </a:rPr>
              <a:t>الخامات هي التي تمنح المجسمات مظهرها النهائي وتجعلها تبدو واقعية. ستتعلم كيفية إضافة خامات مناسبة لكل عنصر في مشهدك، سواء كان معدناً لامعاً، خشباً طبيعياً، أو قماشاً ناعماً.</a:t>
            </a:r>
            <a:endParaRPr lang="en-US" sz="1450" dirty="0"/>
          </a:p>
        </p:txBody>
      </p:sp>
      <p:sp>
        <p:nvSpPr>
          <p:cNvPr id="5" name="Text 3"/>
          <p:cNvSpPr/>
          <p:nvPr/>
        </p:nvSpPr>
        <p:spPr>
          <a:xfrm>
            <a:off x="7543324" y="3169563"/>
            <a:ext cx="6339007" cy="897612"/>
          </a:xfrm>
          <a:prstGeom prst="rect">
            <a:avLst/>
          </a:prstGeom>
          <a:noFill/>
          <a:ln/>
        </p:spPr>
        <p:txBody>
          <a:bodyPr wrap="square" lIns="0" tIns="0" rIns="0" bIns="0" rtlCol="0" anchor="t"/>
          <a:lstStyle/>
          <a:p>
            <a:pPr rtl="1" algn="r" indent="0" marL="0">
              <a:lnSpc>
                <a:spcPts val="2350"/>
              </a:lnSpc>
              <a:buNone/>
            </a:pPr>
            <a:r>
              <a:rPr lang="en-US" sz="1450" dirty="0">
                <a:solidFill>
                  <a:srgbClr val="151617"/>
                </a:solidFill>
                <a:latin typeface="Inconsolata" pitchFamily="34" charset="0"/>
                <a:ea typeface="Inconsolata" pitchFamily="34" charset="-122"/>
                <a:cs typeface="Inconsolata" pitchFamily="34" charset="-120"/>
              </a:rPr>
              <a:t>استخدام خرائط UV يتيح لك فرد المجسمات ثلاثية الأبعاد على سطح ثنائي الأبعاد، مما يسهل إضافة التفاصيل الدقيقة والأنماط المعقدة. محرك Cycles يوفر إمكانيات هائلة لإنشاء مظهر واقعي يحاكي سلوك الضوء في العالم الحقيقي.</a:t>
            </a:r>
            <a:endParaRPr lang="en-US" sz="1450" dirty="0"/>
          </a:p>
        </p:txBody>
      </p:sp>
      <p:pic>
        <p:nvPicPr>
          <p:cNvPr id="6" name="Image 0" descr="preencoded.png">    </p:cNvPr>
          <p:cNvPicPr>
            <a:picLocks noChangeAspect="1"/>
          </p:cNvPicPr>
          <p:nvPr/>
        </p:nvPicPr>
        <p:blipFill>
          <a:blip r:embed="rId1"/>
          <a:stretch>
            <a:fillRect/>
          </a:stretch>
        </p:blipFill>
        <p:spPr>
          <a:xfrm>
            <a:off x="740450" y="1589603"/>
            <a:ext cx="6339007" cy="6339007"/>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400336" y="2275403"/>
            <a:ext cx="5436275"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الإضاءة Lighting وأنواعها</a:t>
            </a:r>
            <a:endParaRPr lang="en-US" sz="3900" dirty="0"/>
          </a:p>
        </p:txBody>
      </p:sp>
      <p:sp>
        <p:nvSpPr>
          <p:cNvPr id="3" name="Text 1"/>
          <p:cNvSpPr/>
          <p:nvPr/>
        </p:nvSpPr>
        <p:spPr>
          <a:xfrm>
            <a:off x="793790" y="3292316"/>
            <a:ext cx="13042821"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الإضاءة هي روح المشهد ثلاثي الأبعاد، وهي التي تحدد المزاج والجو العام للتصميم. فهم أنواع الإضاءة المختلفة وكيفية استخدامها بشكل صحيح يحول تصميمك من مجسمات عادية إلى عمل فني مذهل.</a:t>
            </a:r>
            <a:endParaRPr lang="en-US" sz="1550" dirty="0"/>
          </a:p>
        </p:txBody>
      </p:sp>
      <p:sp>
        <p:nvSpPr>
          <p:cNvPr id="4" name="Text 2"/>
          <p:cNvSpPr/>
          <p:nvPr/>
        </p:nvSpPr>
        <p:spPr>
          <a:xfrm>
            <a:off x="11355705" y="4348996"/>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الإضاءة المباشرة</a:t>
            </a:r>
            <a:endParaRPr lang="en-US" sz="1950" dirty="0"/>
          </a:p>
        </p:txBody>
      </p:sp>
      <p:sp>
        <p:nvSpPr>
          <p:cNvPr id="5" name="Text 3"/>
          <p:cNvSpPr/>
          <p:nvPr/>
        </p:nvSpPr>
        <p:spPr>
          <a:xfrm>
            <a:off x="9654421" y="4778216"/>
            <a:ext cx="4182189"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مصادر ضوء واضحة تخلق ظلالاً حادة وتباينات قوية</a:t>
            </a:r>
            <a:endParaRPr lang="en-US" sz="1550" dirty="0"/>
          </a:p>
        </p:txBody>
      </p:sp>
      <p:sp>
        <p:nvSpPr>
          <p:cNvPr id="6" name="Text 4"/>
          <p:cNvSpPr/>
          <p:nvPr/>
        </p:nvSpPr>
        <p:spPr>
          <a:xfrm>
            <a:off x="6925508" y="4348996"/>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الإضاءة غير المباشرة</a:t>
            </a:r>
            <a:endParaRPr lang="en-US" sz="1950" dirty="0"/>
          </a:p>
        </p:txBody>
      </p:sp>
      <p:sp>
        <p:nvSpPr>
          <p:cNvPr id="7" name="Text 5"/>
          <p:cNvSpPr/>
          <p:nvPr/>
        </p:nvSpPr>
        <p:spPr>
          <a:xfrm>
            <a:off x="5224105" y="4778216"/>
            <a:ext cx="4182308"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إضاءة محيطية ناعمة تملأ المشهد بضوء طبيعي ومتوازن</a:t>
            </a:r>
            <a:endParaRPr lang="en-US" sz="1550" dirty="0"/>
          </a:p>
        </p:txBody>
      </p:sp>
      <p:sp>
        <p:nvSpPr>
          <p:cNvPr id="8" name="Text 6"/>
          <p:cNvSpPr/>
          <p:nvPr/>
        </p:nvSpPr>
        <p:spPr>
          <a:xfrm>
            <a:off x="2495193" y="4348996"/>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زوايا الكاميرا</a:t>
            </a:r>
            <a:endParaRPr lang="en-US" sz="1950" dirty="0"/>
          </a:p>
        </p:txBody>
      </p:sp>
      <p:sp>
        <p:nvSpPr>
          <p:cNvPr id="9" name="Text 7"/>
          <p:cNvSpPr/>
          <p:nvPr/>
        </p:nvSpPr>
        <p:spPr>
          <a:xfrm>
            <a:off x="793790" y="4778216"/>
            <a:ext cx="4182308"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استخدام الكاميرا لتتبع الحركة واختيار أفضل زوايا التصوير</a:t>
            </a:r>
            <a:endParaRPr lang="en-US" sz="1550" dirty="0"/>
          </a:p>
        </p:txBody>
      </p:sp>
      <p:sp>
        <p:nvSpPr>
          <p:cNvPr id="10" name="Text 8"/>
          <p:cNvSpPr/>
          <p:nvPr/>
        </p:nvSpPr>
        <p:spPr>
          <a:xfrm>
            <a:off x="793790" y="5636538"/>
            <a:ext cx="13042821"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توزيع الإضاءة بشكل استراتيجي في المشهد يساعد على تحقيق تأثيرات واقعية ومذهلة، ويوجه عين المشاهد نحو العناصر المهمة في التصميم.</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pic>
        <p:nvPicPr>
          <p:cNvPr id="3" name="Image 1" descr="preencoded.png">    </p:cNvPr>
          <p:cNvPicPr>
            <a:picLocks noChangeAspect="1"/>
          </p:cNvPicPr>
          <p:nvPr/>
        </p:nvPicPr>
        <p:blipFill>
          <a:blip r:embed="rId2"/>
          <a:stretch>
            <a:fillRect/>
          </a:stretch>
        </p:blipFill>
        <p:spPr>
          <a:xfrm>
            <a:off x="9392007" y="2867144"/>
            <a:ext cx="4990386" cy="2495193"/>
          </a:xfrm>
          <a:prstGeom prst="rect">
            <a:avLst/>
          </a:prstGeom>
        </p:spPr>
      </p:pic>
      <p:sp>
        <p:nvSpPr>
          <p:cNvPr id="4" name="Text 0"/>
          <p:cNvSpPr/>
          <p:nvPr/>
        </p:nvSpPr>
        <p:spPr>
          <a:xfrm>
            <a:off x="2276237" y="1281827"/>
            <a:ext cx="6073973"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التحريك Animation ومبادئه</a:t>
            </a:r>
            <a:endParaRPr lang="en-US" sz="3900" dirty="0"/>
          </a:p>
        </p:txBody>
      </p:sp>
      <p:pic>
        <p:nvPicPr>
          <p:cNvPr id="5" name="Image 2" descr="preencoded.png">    </p:cNvPr>
          <p:cNvPicPr>
            <a:picLocks noChangeAspect="1"/>
          </p:cNvPicPr>
          <p:nvPr/>
        </p:nvPicPr>
        <p:blipFill>
          <a:blip r:embed="rId3"/>
          <a:stretch>
            <a:fillRect/>
          </a:stretch>
        </p:blipFill>
        <p:spPr>
          <a:xfrm>
            <a:off x="7357943" y="2199561"/>
            <a:ext cx="992267" cy="1190744"/>
          </a:xfrm>
          <a:prstGeom prst="rect">
            <a:avLst/>
          </a:prstGeom>
        </p:spPr>
      </p:pic>
      <p:sp>
        <p:nvSpPr>
          <p:cNvPr id="6" name="Text 1"/>
          <p:cNvSpPr/>
          <p:nvPr/>
        </p:nvSpPr>
        <p:spPr>
          <a:xfrm>
            <a:off x="4678680" y="2397919"/>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نظام Rigging</a:t>
            </a:r>
            <a:endParaRPr lang="en-US" sz="1950" dirty="0"/>
          </a:p>
        </p:txBody>
      </p:sp>
      <p:sp>
        <p:nvSpPr>
          <p:cNvPr id="7" name="Text 2"/>
          <p:cNvSpPr/>
          <p:nvPr/>
        </p:nvSpPr>
        <p:spPr>
          <a:xfrm>
            <a:off x="793790" y="2827139"/>
            <a:ext cx="6365796"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بناء هيكل عظمي للشخصيات والأجسام لتحريكها بسلاسة وواقعية</a:t>
            </a:r>
            <a:endParaRPr lang="en-US" sz="1550" dirty="0"/>
          </a:p>
        </p:txBody>
      </p:sp>
      <p:pic>
        <p:nvPicPr>
          <p:cNvPr id="8" name="Image 3" descr="preencoded.png">    </p:cNvPr>
          <p:cNvPicPr>
            <a:picLocks noChangeAspect="1"/>
          </p:cNvPicPr>
          <p:nvPr/>
        </p:nvPicPr>
        <p:blipFill>
          <a:blip r:embed="rId4"/>
          <a:stretch>
            <a:fillRect/>
          </a:stretch>
        </p:blipFill>
        <p:spPr>
          <a:xfrm>
            <a:off x="7357943" y="3390305"/>
            <a:ext cx="992267" cy="1190744"/>
          </a:xfrm>
          <a:prstGeom prst="rect">
            <a:avLst/>
          </a:prstGeom>
        </p:spPr>
      </p:pic>
      <p:sp>
        <p:nvSpPr>
          <p:cNvPr id="9" name="Text 3"/>
          <p:cNvSpPr/>
          <p:nvPr/>
        </p:nvSpPr>
        <p:spPr>
          <a:xfrm>
            <a:off x="4678680" y="3588663"/>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مسارات الحركة</a:t>
            </a:r>
            <a:endParaRPr lang="en-US" sz="1950" dirty="0"/>
          </a:p>
        </p:txBody>
      </p:sp>
      <p:sp>
        <p:nvSpPr>
          <p:cNvPr id="10" name="Text 4"/>
          <p:cNvSpPr/>
          <p:nvPr/>
        </p:nvSpPr>
        <p:spPr>
          <a:xfrm>
            <a:off x="793790" y="4017883"/>
            <a:ext cx="6365796"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إنشاء مسارات دقيقة للعناصر مع التحكم الكامل في التوقيت والسرعة</a:t>
            </a:r>
            <a:endParaRPr lang="en-US" sz="1550" dirty="0"/>
          </a:p>
        </p:txBody>
      </p:sp>
      <p:pic>
        <p:nvPicPr>
          <p:cNvPr id="11" name="Image 4" descr="preencoded.png">    </p:cNvPr>
          <p:cNvPicPr>
            <a:picLocks noChangeAspect="1"/>
          </p:cNvPicPr>
          <p:nvPr/>
        </p:nvPicPr>
        <p:blipFill>
          <a:blip r:embed="rId5"/>
          <a:stretch>
            <a:fillRect/>
          </a:stretch>
        </p:blipFill>
        <p:spPr>
          <a:xfrm>
            <a:off x="7357943" y="4581049"/>
            <a:ext cx="992267" cy="1190744"/>
          </a:xfrm>
          <a:prstGeom prst="rect">
            <a:avLst/>
          </a:prstGeom>
        </p:spPr>
      </p:pic>
      <p:sp>
        <p:nvSpPr>
          <p:cNvPr id="12" name="Text 5"/>
          <p:cNvSpPr/>
          <p:nvPr/>
        </p:nvSpPr>
        <p:spPr>
          <a:xfrm>
            <a:off x="4678680" y="4779407"/>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تحريك الشخصيات</a:t>
            </a:r>
            <a:endParaRPr lang="en-US" sz="1950" dirty="0"/>
          </a:p>
        </p:txBody>
      </p:sp>
      <p:sp>
        <p:nvSpPr>
          <p:cNvPr id="13" name="Text 6"/>
          <p:cNvSpPr/>
          <p:nvPr/>
        </p:nvSpPr>
        <p:spPr>
          <a:xfrm>
            <a:off x="793790" y="5208627"/>
            <a:ext cx="6365796"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تطبيق مبادئ التحريك الاحترافية على الشخصيات والأجسام المختلفة</a:t>
            </a:r>
            <a:endParaRPr lang="en-US" sz="1550" dirty="0"/>
          </a:p>
        </p:txBody>
      </p:sp>
      <p:sp>
        <p:nvSpPr>
          <p:cNvPr id="14" name="Text 7"/>
          <p:cNvSpPr/>
          <p:nvPr/>
        </p:nvSpPr>
        <p:spPr>
          <a:xfrm>
            <a:off x="793790" y="5995035"/>
            <a:ext cx="7556421" cy="95261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التحريك يضيف الحياة لتصميماتك الثابتة، محولاً إياها إلى قصص متحركة تحكي رسالتك بشكل أكثر تأثيراً. ستتعلم كيفية استخدام الإطارات المفتاحية (Keyframes) وتقنيات الحركة الوسيطة لإنشاء حركات سلسة وطبيعية.</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8094226" y="797481"/>
            <a:ext cx="5742384"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الإخراج النهائي Rendering</a:t>
            </a:r>
            <a:endParaRPr lang="en-US" sz="3900" dirty="0"/>
          </a:p>
        </p:txBody>
      </p:sp>
      <p:sp>
        <p:nvSpPr>
          <p:cNvPr id="3" name="Text 1"/>
          <p:cNvSpPr/>
          <p:nvPr/>
        </p:nvSpPr>
        <p:spPr>
          <a:xfrm>
            <a:off x="10225088" y="1913572"/>
            <a:ext cx="3611523" cy="372070"/>
          </a:xfrm>
          <a:prstGeom prst="rect">
            <a:avLst/>
          </a:prstGeom>
          <a:noFill/>
          <a:ln/>
        </p:spPr>
        <p:txBody>
          <a:bodyPr wrap="none" lIns="0" tIns="0" rIns="0" bIns="0" rtlCol="0" anchor="t"/>
          <a:lstStyle/>
          <a:p>
            <a:pPr rtl="1" algn="r" indent="0" marL="0">
              <a:lnSpc>
                <a:spcPts val="2900"/>
              </a:lnSpc>
              <a:buNone/>
            </a:pPr>
            <a:r>
              <a:rPr lang="en-US" sz="2300" b="1" dirty="0">
                <a:solidFill>
                  <a:srgbClr val="151617"/>
                </a:solidFill>
                <a:latin typeface="Montserrat Black" pitchFamily="34" charset="0"/>
                <a:ea typeface="Montserrat Black" pitchFamily="34" charset="-122"/>
                <a:cs typeface="Montserrat Black" pitchFamily="34" charset="-120"/>
              </a:rPr>
              <a:t>تحويل المشهد إلى صورة نهائية</a:t>
            </a:r>
            <a:endParaRPr lang="en-US" sz="2300" dirty="0"/>
          </a:p>
        </p:txBody>
      </p:sp>
      <p:sp>
        <p:nvSpPr>
          <p:cNvPr id="4" name="Text 2"/>
          <p:cNvSpPr/>
          <p:nvPr/>
        </p:nvSpPr>
        <p:spPr>
          <a:xfrm>
            <a:off x="6880979" y="2484001"/>
            <a:ext cx="6955631"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الرندر هو العملية التي تحول مشهدك ثلاثي الأبعاد إلى صور أو فيديوهات نهائية بجودة عالية. بلندر يوفر محركي إخراج قويين:</a:t>
            </a:r>
            <a:endParaRPr lang="en-US" sz="1550" dirty="0"/>
          </a:p>
        </p:txBody>
      </p:sp>
      <p:sp>
        <p:nvSpPr>
          <p:cNvPr id="5" name="Shape 3"/>
          <p:cNvSpPr/>
          <p:nvPr/>
        </p:nvSpPr>
        <p:spPr>
          <a:xfrm>
            <a:off x="6880979" y="3342322"/>
            <a:ext cx="6955631" cy="1268492"/>
          </a:xfrm>
          <a:prstGeom prst="roundRect">
            <a:avLst>
              <a:gd name="adj" fmla="val 721"/>
            </a:avLst>
          </a:prstGeom>
          <a:solidFill>
            <a:srgbClr val="F8ECE4"/>
          </a:solidFill>
          <a:ln w="22860">
            <a:solidFill>
              <a:srgbClr val="151617"/>
            </a:solidFill>
            <a:prstDash val="solid"/>
          </a:ln>
          <a:effectLst>
            <a:outerShdw sx="100000" sy="100000" kx="0" ky="0" algn="bl" rotWithShape="0" blurRad="0" dist="17780" dir="2700000">
              <a:srgbClr val="151617">
                <a:alpha val="100000"/>
              </a:srgbClr>
            </a:outerShdw>
          </a:effectLst>
        </p:spPr>
      </p:sp>
      <p:sp>
        <p:nvSpPr>
          <p:cNvPr id="6" name="Text 4"/>
          <p:cNvSpPr/>
          <p:nvPr/>
        </p:nvSpPr>
        <p:spPr>
          <a:xfrm>
            <a:off x="7102197" y="356354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Cycles</a:t>
            </a:r>
            <a:endParaRPr lang="en-US" sz="1950" dirty="0"/>
          </a:p>
        </p:txBody>
      </p:sp>
      <p:sp>
        <p:nvSpPr>
          <p:cNvPr id="7" name="Text 5"/>
          <p:cNvSpPr/>
          <p:nvPr/>
        </p:nvSpPr>
        <p:spPr>
          <a:xfrm>
            <a:off x="7102197" y="4072057"/>
            <a:ext cx="6513195"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محرك واقعي يحاكي سلوك الضوء الفيزيائي لنتائج مذهلة</a:t>
            </a:r>
            <a:endParaRPr lang="en-US" sz="1550" dirty="0"/>
          </a:p>
        </p:txBody>
      </p:sp>
      <p:sp>
        <p:nvSpPr>
          <p:cNvPr id="8" name="Shape 6"/>
          <p:cNvSpPr/>
          <p:nvPr/>
        </p:nvSpPr>
        <p:spPr>
          <a:xfrm>
            <a:off x="6880979" y="4809173"/>
            <a:ext cx="6955631" cy="1268492"/>
          </a:xfrm>
          <a:prstGeom prst="roundRect">
            <a:avLst>
              <a:gd name="adj" fmla="val 721"/>
            </a:avLst>
          </a:prstGeom>
          <a:solidFill>
            <a:srgbClr val="F8ECE4"/>
          </a:solidFill>
          <a:ln w="22860">
            <a:solidFill>
              <a:srgbClr val="151617"/>
            </a:solidFill>
            <a:prstDash val="solid"/>
          </a:ln>
          <a:effectLst>
            <a:outerShdw sx="100000" sy="100000" kx="0" ky="0" algn="bl" rotWithShape="0" blurRad="0" dist="17780" dir="2700000">
              <a:srgbClr val="151617">
                <a:alpha val="100000"/>
              </a:srgbClr>
            </a:outerShdw>
          </a:effectLst>
        </p:spPr>
      </p:sp>
      <p:sp>
        <p:nvSpPr>
          <p:cNvPr id="9" name="Text 7"/>
          <p:cNvSpPr/>
          <p:nvPr/>
        </p:nvSpPr>
        <p:spPr>
          <a:xfrm>
            <a:off x="7102197" y="5030391"/>
            <a:ext cx="2480905" cy="310158"/>
          </a:xfrm>
          <a:prstGeom prst="rect">
            <a:avLst/>
          </a:prstGeom>
          <a:noFill/>
          <a:ln/>
        </p:spPr>
        <p:txBody>
          <a:bodyPr wrap="none" lIns="0" tIns="0" rIns="0" bIns="0" rtlCol="0" anchor="t"/>
          <a:lstStyle/>
          <a:p>
            <a:pPr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Eevee</a:t>
            </a:r>
            <a:endParaRPr lang="en-US" sz="1950" dirty="0"/>
          </a:p>
        </p:txBody>
      </p:sp>
      <p:sp>
        <p:nvSpPr>
          <p:cNvPr id="10" name="Text 8"/>
          <p:cNvSpPr/>
          <p:nvPr/>
        </p:nvSpPr>
        <p:spPr>
          <a:xfrm>
            <a:off x="7102197" y="5538907"/>
            <a:ext cx="6513195"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محرك سريع للمعاينة الفورية والإخراج الأسرع</a:t>
            </a:r>
            <a:endParaRPr lang="en-US" sz="1550" dirty="0"/>
          </a:p>
        </p:txBody>
      </p:sp>
      <p:sp>
        <p:nvSpPr>
          <p:cNvPr id="11" name="Text 9"/>
          <p:cNvSpPr/>
          <p:nvPr/>
        </p:nvSpPr>
        <p:spPr>
          <a:xfrm>
            <a:off x="6880979" y="6300907"/>
            <a:ext cx="6955631" cy="95261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استخدام معالج GPU يسرع عملية الرندر بشكل كبير، مما يوفر الوقت ويسمح بإجراء تعديلات أسرع. يمكنك تصدير أعمالك كصور عالية الدقة أو مقاطع فيديو بجودة احترافية.</a:t>
            </a:r>
            <a:endParaRPr lang="en-US" sz="1550" dirty="0"/>
          </a:p>
        </p:txBody>
      </p:sp>
      <p:pic>
        <p:nvPicPr>
          <p:cNvPr id="12" name="Image 0" descr="preencoded.png">    </p:cNvPr>
          <p:cNvPicPr>
            <a:picLocks noChangeAspect="1"/>
          </p:cNvPicPr>
          <p:nvPr/>
        </p:nvPicPr>
        <p:blipFill>
          <a:blip r:embed="rId1"/>
          <a:stretch>
            <a:fillRect/>
          </a:stretch>
        </p:blipFill>
        <p:spPr>
          <a:xfrm>
            <a:off x="786289" y="1938457"/>
            <a:ext cx="5602962" cy="36410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1051084"/>
            <a:ext cx="7556421" cy="1240393"/>
          </a:xfrm>
          <a:prstGeom prst="rect">
            <a:avLst/>
          </a:prstGeom>
          <a:noFill/>
          <a:ln/>
        </p:spPr>
        <p:txBody>
          <a:bodyPr wrap="none" lIns="0" tIns="0" rIns="0" bIns="0" rtlCol="0" anchor="t"/>
          <a:lstStyle/>
          <a:p>
            <a:pPr rtl="1" algn="r" indent="0" marL="0">
              <a:lnSpc>
                <a:spcPts val="9750"/>
              </a:lnSpc>
              <a:buNone/>
            </a:pPr>
            <a:r>
              <a:rPr lang="en-US" sz="7800" b="1" dirty="0">
                <a:solidFill>
                  <a:srgbClr val="151617"/>
                </a:solidFill>
                <a:latin typeface="Montserrat Black" pitchFamily="34" charset="0"/>
                <a:ea typeface="Montserrat Black" pitchFamily="34" charset="-122"/>
                <a:cs typeface="Montserrat Black" pitchFamily="34" charset="-120"/>
              </a:rPr>
              <a:t>تطبيق عملي!</a:t>
            </a:r>
            <a:endParaRPr lang="en-US" sz="7800" dirty="0"/>
          </a:p>
        </p:txBody>
      </p:sp>
      <p:sp>
        <p:nvSpPr>
          <p:cNvPr id="4" name="Shape 1"/>
          <p:cNvSpPr/>
          <p:nvPr/>
        </p:nvSpPr>
        <p:spPr>
          <a:xfrm>
            <a:off x="793790" y="2589133"/>
            <a:ext cx="7556421" cy="1731169"/>
          </a:xfrm>
          <a:prstGeom prst="roundRect">
            <a:avLst>
              <a:gd name="adj" fmla="val 528"/>
            </a:avLst>
          </a:prstGeom>
          <a:solidFill>
            <a:srgbClr val="D7D9DA"/>
          </a:solidFill>
          <a:ln/>
        </p:spPr>
      </p:sp>
      <p:pic>
        <p:nvPicPr>
          <p:cNvPr id="5" name="Image 1" descr="preencoded.png">    </p:cNvPr>
          <p:cNvPicPr>
            <a:picLocks noChangeAspect="1"/>
          </p:cNvPicPr>
          <p:nvPr/>
        </p:nvPicPr>
        <p:blipFill>
          <a:blip r:embed="rId2"/>
          <a:stretch>
            <a:fillRect/>
          </a:stretch>
        </p:blipFill>
        <p:spPr>
          <a:xfrm>
            <a:off x="7779782" y="2866073"/>
            <a:ext cx="372070" cy="297656"/>
          </a:xfrm>
          <a:prstGeom prst="rect">
            <a:avLst/>
          </a:prstGeom>
        </p:spPr>
      </p:pic>
      <p:sp>
        <p:nvSpPr>
          <p:cNvPr id="6" name="Text 2"/>
          <p:cNvSpPr/>
          <p:nvPr/>
        </p:nvSpPr>
        <p:spPr>
          <a:xfrm>
            <a:off x="4604385" y="2837021"/>
            <a:ext cx="2977039" cy="372070"/>
          </a:xfrm>
          <a:prstGeom prst="rect">
            <a:avLst/>
          </a:prstGeom>
          <a:noFill/>
          <a:ln/>
        </p:spPr>
        <p:txBody>
          <a:bodyPr wrap="none" lIns="0" tIns="0" rIns="0" bIns="0" rtlCol="0" anchor="t"/>
          <a:lstStyle/>
          <a:p>
            <a:pPr rtl="1" algn="r" indent="0" marL="0">
              <a:lnSpc>
                <a:spcPts val="2900"/>
              </a:lnSpc>
              <a:buNone/>
            </a:pPr>
            <a:r>
              <a:rPr lang="en-US" sz="2300" b="1" dirty="0">
                <a:solidFill>
                  <a:srgbClr val="000000"/>
                </a:solidFill>
                <a:latin typeface="Montserrat Black" pitchFamily="34" charset="0"/>
                <a:ea typeface="Montserrat Black" pitchFamily="34" charset="-122"/>
                <a:cs typeface="Montserrat Black" pitchFamily="34" charset="-120"/>
              </a:rPr>
              <a:t>حان وقت الإبداع</a:t>
            </a:r>
            <a:endParaRPr lang="en-US" sz="2300" dirty="0"/>
          </a:p>
        </p:txBody>
      </p:sp>
      <p:sp>
        <p:nvSpPr>
          <p:cNvPr id="7" name="Text 3"/>
          <p:cNvSpPr/>
          <p:nvPr/>
        </p:nvSpPr>
        <p:spPr>
          <a:xfrm>
            <a:off x="992148" y="3407450"/>
            <a:ext cx="6589276" cy="635079"/>
          </a:xfrm>
          <a:prstGeom prst="rect">
            <a:avLst/>
          </a:prstGeom>
          <a:noFill/>
          <a:ln/>
        </p:spPr>
        <p:txBody>
          <a:bodyPr wrap="square" lIns="0" tIns="0" rIns="0" bIns="0" rtlCol="0" anchor="t"/>
          <a:lstStyle/>
          <a:p>
            <a:pPr rtl="1" algn="r" indent="0" marL="0">
              <a:lnSpc>
                <a:spcPts val="2500"/>
              </a:lnSpc>
              <a:buNone/>
            </a:pPr>
            <a:r>
              <a:rPr lang="en-US" sz="1550" dirty="0">
                <a:solidFill>
                  <a:srgbClr val="000000"/>
                </a:solidFill>
                <a:latin typeface="Inconsolata" pitchFamily="34" charset="0"/>
                <a:ea typeface="Inconsolata" pitchFamily="34" charset="-122"/>
                <a:cs typeface="Inconsolata" pitchFamily="34" charset="-120"/>
              </a:rPr>
              <a:t>اتبع إرشادات المنظمين بعناية واسأل إن واجهت أي مشاكل أو تحديات. الفريق موجود لمساعدتك في كل خطوة!</a:t>
            </a:r>
            <a:endParaRPr lang="en-US" sz="1550" dirty="0"/>
          </a:p>
        </p:txBody>
      </p:sp>
      <p:sp>
        <p:nvSpPr>
          <p:cNvPr id="8" name="Shape 4"/>
          <p:cNvSpPr/>
          <p:nvPr/>
        </p:nvSpPr>
        <p:spPr>
          <a:xfrm>
            <a:off x="793790" y="4543544"/>
            <a:ext cx="7556421" cy="2634972"/>
          </a:xfrm>
          <a:prstGeom prst="roundRect">
            <a:avLst>
              <a:gd name="adj" fmla="val 347"/>
            </a:avLst>
          </a:prstGeom>
          <a:solidFill>
            <a:srgbClr val="F8ECE4"/>
          </a:solidFill>
          <a:ln w="7620">
            <a:solidFill>
              <a:srgbClr val="151617"/>
            </a:solidFill>
            <a:prstDash val="solid"/>
          </a:ln>
          <a:effectLst>
            <a:outerShdw sx="100000" sy="100000" kx="0" ky="0" algn="bl" rotWithShape="0" blurRad="0" dist="17780" dir="2700000">
              <a:srgbClr val="151617">
                <a:alpha val="100000"/>
              </a:srgbClr>
            </a:outerShdw>
          </a:effectLst>
        </p:spPr>
      </p:sp>
      <p:sp>
        <p:nvSpPr>
          <p:cNvPr id="9" name="Shape 5"/>
          <p:cNvSpPr/>
          <p:nvPr/>
        </p:nvSpPr>
        <p:spPr>
          <a:xfrm>
            <a:off x="4572000" y="4551164"/>
            <a:ext cx="3770590" cy="1468636"/>
          </a:xfrm>
          <a:prstGeom prst="rect">
            <a:avLst/>
          </a:prstGeom>
          <a:solidFill>
            <a:srgbClr val="F8ECE4"/>
          </a:solidFill>
          <a:ln/>
        </p:spPr>
      </p:sp>
      <p:sp>
        <p:nvSpPr>
          <p:cNvPr id="10" name="Text 6"/>
          <p:cNvSpPr/>
          <p:nvPr/>
        </p:nvSpPr>
        <p:spPr>
          <a:xfrm>
            <a:off x="5663327" y="4749522"/>
            <a:ext cx="2480905" cy="317778"/>
          </a:xfrm>
          <a:prstGeom prst="rect">
            <a:avLst/>
          </a:prstGeom>
          <a:noFill/>
          <a:ln/>
        </p:spPr>
        <p:txBody>
          <a:bodyPr wrap="none" lIns="0" tIns="0" rIns="0" bIns="0" rtlCol="0" anchor="t"/>
          <a:lstStyle/>
          <a:p>
            <a:pPr rtl="1" algn="r" indent="0" marL="0">
              <a:lnSpc>
                <a:spcPts val="2400"/>
              </a:lnSpc>
              <a:buNone/>
            </a:pPr>
            <a:r>
              <a:rPr lang="en-US" sz="1950" b="1" dirty="0">
                <a:solidFill>
                  <a:srgbClr val="000000"/>
                </a:solidFill>
                <a:latin typeface="Montserrat Black" pitchFamily="34" charset="0"/>
                <a:ea typeface="Montserrat Black" pitchFamily="34" charset="-122"/>
                <a:cs typeface="Montserrat Black" pitchFamily="34" charset="-120"/>
              </a:rPr>
              <a:t>🎨</a:t>
            </a:r>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 أطلق العنان لإبداعك</a:t>
            </a:r>
            <a:endParaRPr lang="en-US" sz="1950" dirty="0"/>
          </a:p>
        </p:txBody>
      </p:sp>
      <p:sp>
        <p:nvSpPr>
          <p:cNvPr id="11" name="Text 7"/>
          <p:cNvSpPr/>
          <p:nvPr/>
        </p:nvSpPr>
        <p:spPr>
          <a:xfrm>
            <a:off x="4770358" y="5186363"/>
            <a:ext cx="3373874"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استخدم كل ما تعلمته لإنشاء تصميم فريد يعبر عن رؤيتك الخاصة</a:t>
            </a:r>
            <a:endParaRPr lang="en-US" sz="1550" dirty="0"/>
          </a:p>
        </p:txBody>
      </p:sp>
      <p:sp>
        <p:nvSpPr>
          <p:cNvPr id="12" name="Shape 8"/>
          <p:cNvSpPr/>
          <p:nvPr/>
        </p:nvSpPr>
        <p:spPr>
          <a:xfrm>
            <a:off x="801410" y="4551164"/>
            <a:ext cx="3770590" cy="1468636"/>
          </a:xfrm>
          <a:prstGeom prst="roundRect">
            <a:avLst>
              <a:gd name="adj" fmla="val 623"/>
            </a:avLst>
          </a:prstGeom>
          <a:solidFill>
            <a:srgbClr val="F8ECE4"/>
          </a:solidFill>
          <a:ln/>
        </p:spPr>
      </p:sp>
      <p:sp>
        <p:nvSpPr>
          <p:cNvPr id="13" name="Shape 9"/>
          <p:cNvSpPr/>
          <p:nvPr/>
        </p:nvSpPr>
        <p:spPr>
          <a:xfrm>
            <a:off x="4549140" y="4551164"/>
            <a:ext cx="22860" cy="1468636"/>
          </a:xfrm>
          <a:prstGeom prst="roundRect">
            <a:avLst>
              <a:gd name="adj" fmla="val 40000"/>
            </a:avLst>
          </a:prstGeom>
          <a:solidFill>
            <a:srgbClr val="2E2F30"/>
          </a:solidFill>
          <a:ln/>
        </p:spPr>
      </p:sp>
      <p:sp>
        <p:nvSpPr>
          <p:cNvPr id="14" name="Text 10"/>
          <p:cNvSpPr/>
          <p:nvPr/>
        </p:nvSpPr>
        <p:spPr>
          <a:xfrm>
            <a:off x="1892737" y="4749522"/>
            <a:ext cx="2480905" cy="317778"/>
          </a:xfrm>
          <a:prstGeom prst="rect">
            <a:avLst/>
          </a:prstGeom>
          <a:noFill/>
          <a:ln/>
        </p:spPr>
        <p:txBody>
          <a:bodyPr wrap="none" lIns="0" tIns="0" rIns="0" bIns="0" rtlCol="0" anchor="t"/>
          <a:lstStyle/>
          <a:p>
            <a:pPr rtl="1" algn="r" indent="0" marL="0">
              <a:lnSpc>
                <a:spcPts val="2400"/>
              </a:lnSpc>
              <a:buNone/>
            </a:pPr>
            <a:r>
              <a:rPr lang="en-US" sz="1950" b="1" dirty="0">
                <a:solidFill>
                  <a:srgbClr val="000000"/>
                </a:solidFill>
                <a:latin typeface="Montserrat Black" pitchFamily="34" charset="0"/>
                <a:ea typeface="Montserrat Black" pitchFamily="34" charset="-122"/>
                <a:cs typeface="Montserrat Black" pitchFamily="34" charset="-120"/>
              </a:rPr>
              <a:t>🏆</a:t>
            </a:r>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 جوائز قيمة</a:t>
            </a:r>
            <a:endParaRPr lang="en-US" sz="1950" dirty="0"/>
          </a:p>
        </p:txBody>
      </p:sp>
      <p:sp>
        <p:nvSpPr>
          <p:cNvPr id="15" name="Text 11"/>
          <p:cNvSpPr/>
          <p:nvPr/>
        </p:nvSpPr>
        <p:spPr>
          <a:xfrm>
            <a:off x="999768" y="5186363"/>
            <a:ext cx="3373874"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أكثر 10 تصاميم إبداعية سيحصل أصحابها على جوائز مميزة وقيمة</a:t>
            </a:r>
            <a:endParaRPr lang="en-US" sz="1550" dirty="0"/>
          </a:p>
        </p:txBody>
      </p:sp>
      <p:sp>
        <p:nvSpPr>
          <p:cNvPr id="16" name="Shape 12"/>
          <p:cNvSpPr/>
          <p:nvPr/>
        </p:nvSpPr>
        <p:spPr>
          <a:xfrm>
            <a:off x="801410" y="6019800"/>
            <a:ext cx="7541181" cy="1151096"/>
          </a:xfrm>
          <a:prstGeom prst="rect">
            <a:avLst/>
          </a:prstGeom>
          <a:solidFill>
            <a:srgbClr val="F8ECE4"/>
          </a:solidFill>
          <a:ln/>
        </p:spPr>
      </p:sp>
      <p:sp>
        <p:nvSpPr>
          <p:cNvPr id="17" name="Shape 13"/>
          <p:cNvSpPr/>
          <p:nvPr/>
        </p:nvSpPr>
        <p:spPr>
          <a:xfrm>
            <a:off x="801410" y="6019800"/>
            <a:ext cx="7541181" cy="22860"/>
          </a:xfrm>
          <a:prstGeom prst="roundRect">
            <a:avLst>
              <a:gd name="adj" fmla="val 40000"/>
            </a:avLst>
          </a:prstGeom>
          <a:solidFill>
            <a:srgbClr val="2E2F30"/>
          </a:solidFill>
          <a:ln/>
        </p:spPr>
      </p:sp>
      <p:sp>
        <p:nvSpPr>
          <p:cNvPr id="18" name="Text 14"/>
          <p:cNvSpPr/>
          <p:nvPr/>
        </p:nvSpPr>
        <p:spPr>
          <a:xfrm>
            <a:off x="5663327" y="6218158"/>
            <a:ext cx="2480905" cy="317778"/>
          </a:xfrm>
          <a:prstGeom prst="rect">
            <a:avLst/>
          </a:prstGeom>
          <a:noFill/>
          <a:ln/>
        </p:spPr>
        <p:txBody>
          <a:bodyPr wrap="none" lIns="0" tIns="0" rIns="0" bIns="0" rtlCol="0" anchor="t"/>
          <a:lstStyle/>
          <a:p>
            <a:pPr rtl="1" algn="r" indent="0" marL="0">
              <a:lnSpc>
                <a:spcPts val="2400"/>
              </a:lnSpc>
              <a:buNone/>
            </a:pPr>
            <a:r>
              <a:rPr lang="en-US" sz="1950" b="1" dirty="0">
                <a:solidFill>
                  <a:srgbClr val="000000"/>
                </a:solidFill>
                <a:latin typeface="Montserrat Black" pitchFamily="34" charset="0"/>
                <a:ea typeface="Montserrat Black" pitchFamily="34" charset="-122"/>
                <a:cs typeface="Montserrat Black" pitchFamily="34" charset="-120"/>
              </a:rPr>
              <a:t>⏰</a:t>
            </a:r>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 ابدأ الآن</a:t>
            </a:r>
            <a:endParaRPr lang="en-US" sz="1950" dirty="0"/>
          </a:p>
        </p:txBody>
      </p:sp>
      <p:sp>
        <p:nvSpPr>
          <p:cNvPr id="19" name="Text 15"/>
          <p:cNvSpPr/>
          <p:nvPr/>
        </p:nvSpPr>
        <p:spPr>
          <a:xfrm>
            <a:off x="999768" y="6654998"/>
            <a:ext cx="7144464"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الوقت محدود، لذا ابدأ فوراً وحول أفكارك إلى واقع رقمي مذهل</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8874800" y="830223"/>
            <a:ext cx="4961811" cy="620078"/>
          </a:xfrm>
          <a:prstGeom prst="rect">
            <a:avLst/>
          </a:prstGeom>
          <a:noFill/>
          <a:ln/>
        </p:spPr>
        <p:txBody>
          <a:bodyPr wrap="none" lIns="0" tIns="0" rIns="0" bIns="0" rtlCol="0" anchor="t"/>
          <a:lstStyle/>
          <a:p>
            <a:pPr rtl="1" algn="r" indent="0" marL="0">
              <a:lnSpc>
                <a:spcPts val="4850"/>
              </a:lnSpc>
              <a:buNone/>
            </a:pPr>
            <a:r>
              <a:rPr lang="en-US" sz="3900" b="1" dirty="0">
                <a:solidFill>
                  <a:srgbClr val="151617"/>
                </a:solidFill>
                <a:latin typeface="Montserrat Black" pitchFamily="34" charset="0"/>
                <a:ea typeface="Montserrat Black" pitchFamily="34" charset="-122"/>
                <a:cs typeface="Montserrat Black" pitchFamily="34" charset="-120"/>
              </a:rPr>
              <a:t>الخاتمة</a:t>
            </a:r>
            <a:endParaRPr lang="en-US" sz="3900" dirty="0"/>
          </a:p>
        </p:txBody>
      </p:sp>
      <p:sp>
        <p:nvSpPr>
          <p:cNvPr id="3" name="Text 1"/>
          <p:cNvSpPr/>
          <p:nvPr/>
        </p:nvSpPr>
        <p:spPr>
          <a:xfrm>
            <a:off x="9597628" y="2619851"/>
            <a:ext cx="2480905" cy="310158"/>
          </a:xfrm>
          <a:prstGeom prst="rect">
            <a:avLst/>
          </a:prstGeom>
          <a:noFill/>
          <a:ln/>
        </p:spPr>
        <p:txBody>
          <a:bodyPr wrap="none" lIns="0" tIns="0" rIns="0" bIns="0" rtlCol="0" anchor="t"/>
          <a:lstStyle/>
          <a:p>
            <a:pPr rtl="1"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أداة مجانية قوية</a:t>
            </a:r>
            <a:endParaRPr lang="en-US" sz="1950" dirty="0"/>
          </a:p>
        </p:txBody>
      </p:sp>
      <p:sp>
        <p:nvSpPr>
          <p:cNvPr id="4" name="Text 2"/>
          <p:cNvSpPr/>
          <p:nvPr/>
        </p:nvSpPr>
        <p:spPr>
          <a:xfrm>
            <a:off x="9597628" y="3049072"/>
            <a:ext cx="4238982" cy="317540"/>
          </a:xfrm>
          <a:prstGeom prst="rect">
            <a:avLst/>
          </a:prstGeom>
          <a:noFill/>
          <a:ln/>
        </p:spPr>
        <p:txBody>
          <a:bodyPr wrap="none" lIns="0" tIns="0" rIns="0" bIns="0" rtlCol="0" anchor="t"/>
          <a:lstStyle/>
          <a:p>
            <a:pPr rtl="1" algn="l"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بلندر يفتح لك أبواب الإبداع دون أي تكلفة مادية</a:t>
            </a:r>
            <a:endParaRPr lang="en-US" sz="1550" dirty="0"/>
          </a:p>
        </p:txBody>
      </p:sp>
      <p:pic>
        <p:nvPicPr>
          <p:cNvPr id="5" name="Image 0" descr="preencoded.png">    </p:cNvPr>
          <p:cNvPicPr>
            <a:picLocks noChangeAspect="1"/>
          </p:cNvPicPr>
          <p:nvPr/>
        </p:nvPicPr>
        <p:blipFill>
          <a:blip r:embed="rId1"/>
          <a:stretch>
            <a:fillRect/>
          </a:stretch>
        </p:blipFill>
        <p:spPr>
          <a:xfrm>
            <a:off x="5032653" y="1847136"/>
            <a:ext cx="4564975" cy="4564975"/>
          </a:xfrm>
          <a:prstGeom prst="rect">
            <a:avLst/>
          </a:prstGeom>
        </p:spPr>
      </p:pic>
      <p:pic>
        <p:nvPicPr>
          <p:cNvPr id="6" name="Image 1" descr="preencoded.png">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8126432" y="3299043"/>
            <a:ext cx="279083" cy="279083"/>
          </a:xfrm>
          <a:prstGeom prst="rect">
            <a:avLst/>
          </a:prstGeom>
        </p:spPr>
      </p:pic>
      <p:sp>
        <p:nvSpPr>
          <p:cNvPr id="7" name="Text 3"/>
          <p:cNvSpPr/>
          <p:nvPr/>
        </p:nvSpPr>
        <p:spPr>
          <a:xfrm>
            <a:off x="2551748" y="2029420"/>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مهارات سوق العمل</a:t>
            </a:r>
            <a:endParaRPr lang="en-US" sz="1950" dirty="0"/>
          </a:p>
        </p:txBody>
      </p:sp>
      <p:sp>
        <p:nvSpPr>
          <p:cNvPr id="8" name="Text 4"/>
          <p:cNvSpPr/>
          <p:nvPr/>
        </p:nvSpPr>
        <p:spPr>
          <a:xfrm>
            <a:off x="793790" y="2458641"/>
            <a:ext cx="4238863"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اكتسب المهارات التي تؤهلك للعمل في صناعات التصميم والرسوم المتحركة</a:t>
            </a:r>
            <a:endParaRPr lang="en-US" sz="1550" dirty="0"/>
          </a:p>
        </p:txBody>
      </p:sp>
      <p:pic>
        <p:nvPicPr>
          <p:cNvPr id="9" name="Image 2" descr="preencoded.png">    </p:cNvPr>
          <p:cNvPicPr>
            <a:picLocks noChangeAspect="1"/>
          </p:cNvPicPr>
          <p:nvPr/>
        </p:nvPicPr>
        <p:blipFill>
          <a:blip r:embed="rId4"/>
          <a:stretch>
            <a:fillRect/>
          </a:stretch>
        </p:blipFill>
        <p:spPr>
          <a:xfrm>
            <a:off x="5032653" y="1847136"/>
            <a:ext cx="4564975" cy="4564975"/>
          </a:xfrm>
          <a:prstGeom prst="rect">
            <a:avLst/>
          </a:prstGeom>
        </p:spPr>
      </p:pic>
      <p:pic>
        <p:nvPicPr>
          <p:cNvPr id="10" name="Image 3"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12220" y="2871966"/>
            <a:ext cx="279083" cy="279083"/>
          </a:xfrm>
          <a:prstGeom prst="rect">
            <a:avLst/>
          </a:prstGeom>
        </p:spPr>
      </p:pic>
      <p:sp>
        <p:nvSpPr>
          <p:cNvPr id="11" name="Text 5"/>
          <p:cNvSpPr/>
          <p:nvPr/>
        </p:nvSpPr>
        <p:spPr>
          <a:xfrm>
            <a:off x="2154912" y="3756184"/>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مجتمع عالمي</a:t>
            </a:r>
            <a:endParaRPr lang="en-US" sz="1950" dirty="0"/>
          </a:p>
        </p:txBody>
      </p:sp>
      <p:sp>
        <p:nvSpPr>
          <p:cNvPr id="12" name="Text 6"/>
          <p:cNvSpPr/>
          <p:nvPr/>
        </p:nvSpPr>
        <p:spPr>
          <a:xfrm>
            <a:off x="793790" y="4185404"/>
            <a:ext cx="3842028" cy="635079"/>
          </a:xfrm>
          <a:prstGeom prst="rect">
            <a:avLst/>
          </a:prstGeom>
          <a:noFill/>
          <a:ln/>
        </p:spPr>
        <p:txBody>
          <a:bodyPr wrap="squar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انضم إلى ملايين المصممين والمبدعين حول العالم</a:t>
            </a:r>
            <a:endParaRPr lang="en-US" sz="1550" dirty="0"/>
          </a:p>
        </p:txBody>
      </p:sp>
      <p:pic>
        <p:nvPicPr>
          <p:cNvPr id="13" name="Image 4" descr="preencoded.png">    </p:cNvPr>
          <p:cNvPicPr>
            <a:picLocks noChangeAspect="1"/>
          </p:cNvPicPr>
          <p:nvPr/>
        </p:nvPicPr>
        <p:blipFill>
          <a:blip r:embed="rId7"/>
          <a:stretch>
            <a:fillRect/>
          </a:stretch>
        </p:blipFill>
        <p:spPr>
          <a:xfrm>
            <a:off x="5032653" y="1847136"/>
            <a:ext cx="4564975" cy="4564975"/>
          </a:xfrm>
          <a:prstGeom prst="rect">
            <a:avLst/>
          </a:prstGeom>
        </p:spPr>
      </p:pic>
      <p:pic>
        <p:nvPicPr>
          <p:cNvPr id="14" name="Image 5" descr="preencoded.png">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999976" y="3989963"/>
            <a:ext cx="279083" cy="279083"/>
          </a:xfrm>
          <a:prstGeom prst="rect">
            <a:avLst/>
          </a:prstGeom>
        </p:spPr>
      </p:pic>
      <p:sp>
        <p:nvSpPr>
          <p:cNvPr id="15" name="Text 7"/>
          <p:cNvSpPr/>
          <p:nvPr/>
        </p:nvSpPr>
        <p:spPr>
          <a:xfrm>
            <a:off x="2551748" y="5482947"/>
            <a:ext cx="2480905" cy="310158"/>
          </a:xfrm>
          <a:prstGeom prst="rect">
            <a:avLst/>
          </a:prstGeom>
          <a:noFill/>
          <a:ln/>
        </p:spPr>
        <p:txBody>
          <a:bodyPr wrap="none" lIns="0" tIns="0" rIns="0" bIns="0" rtlCol="0" anchor="t"/>
          <a:lstStyle/>
          <a:p>
            <a:pPr rtl="1" algn="r"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مستقبل واعد</a:t>
            </a:r>
            <a:endParaRPr lang="en-US" sz="1950" dirty="0"/>
          </a:p>
        </p:txBody>
      </p:sp>
      <p:sp>
        <p:nvSpPr>
          <p:cNvPr id="16" name="Text 8"/>
          <p:cNvSpPr/>
          <p:nvPr/>
        </p:nvSpPr>
        <p:spPr>
          <a:xfrm>
            <a:off x="793790" y="5912168"/>
            <a:ext cx="4238863" cy="317540"/>
          </a:xfrm>
          <a:prstGeom prst="rect">
            <a:avLst/>
          </a:prstGeom>
          <a:noFill/>
          <a:ln/>
        </p:spPr>
        <p:txBody>
          <a:bodyPr wrap="none" lIns="0" tIns="0" rIns="0" bIns="0" rtlCol="0" anchor="t"/>
          <a:lstStyle/>
          <a:p>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استثمر في تعلم مهارة تزداد قيمتها يوماً بعد يوم</a:t>
            </a:r>
            <a:endParaRPr lang="en-US" sz="1550" dirty="0"/>
          </a:p>
        </p:txBody>
      </p:sp>
      <p:pic>
        <p:nvPicPr>
          <p:cNvPr id="17" name="Image 6" descr="preencoded.png">    </p:cNvPr>
          <p:cNvPicPr>
            <a:picLocks noChangeAspect="1"/>
          </p:cNvPicPr>
          <p:nvPr/>
        </p:nvPicPr>
        <p:blipFill>
          <a:blip r:embed="rId10"/>
          <a:stretch>
            <a:fillRect/>
          </a:stretch>
        </p:blipFill>
        <p:spPr>
          <a:xfrm>
            <a:off x="5032653" y="1847136"/>
            <a:ext cx="4564975" cy="4564975"/>
          </a:xfrm>
          <a:prstGeom prst="rect">
            <a:avLst/>
          </a:prstGeom>
        </p:spPr>
      </p:pic>
      <p:pic>
        <p:nvPicPr>
          <p:cNvPr id="18" name="Image 7" descr="preencoded.png">    </p:cNvPr>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812220" y="5107960"/>
            <a:ext cx="279083" cy="279083"/>
          </a:xfrm>
          <a:prstGeom prst="rect">
            <a:avLst/>
          </a:prstGeom>
        </p:spPr>
      </p:pic>
      <p:sp>
        <p:nvSpPr>
          <p:cNvPr id="19" name="Text 9"/>
          <p:cNvSpPr/>
          <p:nvPr/>
        </p:nvSpPr>
        <p:spPr>
          <a:xfrm>
            <a:off x="9597628" y="5051227"/>
            <a:ext cx="2480905" cy="310158"/>
          </a:xfrm>
          <a:prstGeom prst="rect">
            <a:avLst/>
          </a:prstGeom>
          <a:noFill/>
          <a:ln/>
        </p:spPr>
        <p:txBody>
          <a:bodyPr wrap="none" lIns="0" tIns="0" rIns="0" bIns="0" rtlCol="0" anchor="t"/>
          <a:lstStyle/>
          <a:p>
            <a:pPr rtl="1" algn="l" indent="0" marL="0">
              <a:lnSpc>
                <a:spcPts val="2400"/>
              </a:lnSpc>
              <a:buNone/>
            </a:pPr>
            <a:r>
              <a:rPr lang="en-US" sz="1950" b="1" dirty="0">
                <a:solidFill>
                  <a:srgbClr val="151617"/>
                </a:solidFill>
                <a:latin typeface="Montserrat Black" pitchFamily="34" charset="0"/>
                <a:ea typeface="Montserrat Black" pitchFamily="34" charset="-122"/>
                <a:cs typeface="Montserrat Black" pitchFamily="34" charset="-120"/>
              </a:rPr>
              <a:t>إبداع لا محدود</a:t>
            </a:r>
            <a:endParaRPr lang="en-US" sz="1950" dirty="0"/>
          </a:p>
        </p:txBody>
      </p:sp>
      <p:sp>
        <p:nvSpPr>
          <p:cNvPr id="20" name="Text 10"/>
          <p:cNvSpPr/>
          <p:nvPr/>
        </p:nvSpPr>
        <p:spPr>
          <a:xfrm>
            <a:off x="9597628" y="5480447"/>
            <a:ext cx="4238982" cy="317540"/>
          </a:xfrm>
          <a:prstGeom prst="rect">
            <a:avLst/>
          </a:prstGeom>
          <a:noFill/>
          <a:ln/>
        </p:spPr>
        <p:txBody>
          <a:bodyPr wrap="none" lIns="0" tIns="0" rIns="0" bIns="0" rtlCol="0" anchor="t"/>
          <a:lstStyle/>
          <a:p>
            <a:pPr rtl="1" algn="l"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حول أفكارك وأحلامك إلى تصاميم واقعية مذهلة</a:t>
            </a:r>
            <a:endParaRPr lang="en-US" sz="1550" dirty="0"/>
          </a:p>
        </p:txBody>
      </p:sp>
      <p:pic>
        <p:nvPicPr>
          <p:cNvPr id="21" name="Image 8" descr="preencoded.png">    </p:cNvPr>
          <p:cNvPicPr>
            <a:picLocks noChangeAspect="1"/>
          </p:cNvPicPr>
          <p:nvPr/>
        </p:nvPicPr>
        <p:blipFill>
          <a:blip r:embed="rId13"/>
          <a:stretch>
            <a:fillRect/>
          </a:stretch>
        </p:blipFill>
        <p:spPr>
          <a:xfrm>
            <a:off x="5032653" y="1847136"/>
            <a:ext cx="4564975" cy="4564975"/>
          </a:xfrm>
          <a:prstGeom prst="rect">
            <a:avLst/>
          </a:prstGeom>
        </p:spPr>
      </p:pic>
      <p:pic>
        <p:nvPicPr>
          <p:cNvPr id="22" name="Image 9" descr="preencoded.png">    </p:cNvPr>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8126432" y="4680883"/>
            <a:ext cx="279083" cy="279083"/>
          </a:xfrm>
          <a:prstGeom prst="rect">
            <a:avLst/>
          </a:prstGeom>
        </p:spPr>
      </p:pic>
      <p:sp>
        <p:nvSpPr>
          <p:cNvPr id="23" name="Text 11"/>
          <p:cNvSpPr/>
          <p:nvPr/>
        </p:nvSpPr>
        <p:spPr>
          <a:xfrm>
            <a:off x="793790" y="6858595"/>
            <a:ext cx="12745164" cy="317540"/>
          </a:xfrm>
          <a:prstGeom prst="rect">
            <a:avLst/>
          </a:prstGeom>
          <a:noFill/>
          <a:ln/>
        </p:spPr>
        <p:txBody>
          <a:bodyPr wrap="none" lIns="0" tIns="0" rIns="0" bIns="0" rtlCol="0" anchor="t"/>
          <a:lstStyle/>
          <a:p>
            <a:pPr rtl="1" algn="r" indent="0" marL="0">
              <a:lnSpc>
                <a:spcPts val="2500"/>
              </a:lnSpc>
              <a:buNone/>
            </a:pPr>
            <a:r>
              <a:rPr lang="en-US" sz="1550" b="1" dirty="0">
                <a:solidFill>
                  <a:srgbClr val="151617"/>
                </a:solidFill>
                <a:latin typeface="Inconsolata" pitchFamily="34" charset="0"/>
                <a:ea typeface="Inconsolata" pitchFamily="34" charset="-122"/>
                <a:cs typeface="Inconsolata" pitchFamily="34" charset="-120"/>
              </a:rPr>
              <a:t>رحلتك الإبداعية تبدأ هنا.</a:t>
            </a:r>
            <a:pPr rtl="1" algn="r" indent="0" marL="0">
              <a:lnSpc>
                <a:spcPts val="2500"/>
              </a:lnSpc>
              <a:buNone/>
            </a:pPr>
            <a:r>
              <a:rPr lang="en-US" sz="1550" dirty="0">
                <a:solidFill>
                  <a:srgbClr val="151617"/>
                </a:solidFill>
                <a:latin typeface="Inconsolata" pitchFamily="34" charset="0"/>
                <a:ea typeface="Inconsolata" pitchFamily="34" charset="-122"/>
                <a:cs typeface="Inconsolata" pitchFamily="34" charset="-120"/>
              </a:rPr>
              <a:t> بلندر ليس مجرد برنامج، بل هو بوابتك لعالم لا نهائي من الإمكانيات الفنية والإبداعية.</a:t>
            </a:r>
            <a:endParaRPr lang="en-US" sz="1550" dirty="0"/>
          </a:p>
        </p:txBody>
      </p:sp>
      <p:sp>
        <p:nvSpPr>
          <p:cNvPr id="24" name="Shape 12"/>
          <p:cNvSpPr/>
          <p:nvPr/>
        </p:nvSpPr>
        <p:spPr>
          <a:xfrm>
            <a:off x="13813750" y="6635353"/>
            <a:ext cx="22860" cy="764024"/>
          </a:xfrm>
          <a:prstGeom prst="rect">
            <a:avLst/>
          </a:prstGeom>
          <a:solidFill>
            <a:srgbClr val="151617"/>
          </a:solidFill>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2025-12-02T09:10:44Z</dcterms:created>
  <dcterms:modified xsi:type="dcterms:W3CDTF">2025-12-02T09:10:44Z</dcterms:modified>
</cp:coreProperties>
</file>